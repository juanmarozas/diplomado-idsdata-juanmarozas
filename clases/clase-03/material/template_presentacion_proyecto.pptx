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instrucciones. Se borra antes de presentar. Rúbrica completa y los 10 temas: archivo rubrica_y_temas.html o proyecto-integrador.md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0,5 min. Preséntense los dos. Una frase: "Nuestro proyecto responde [pregunta] usando los datos de Olist". Se alimenta de la ficha de la Clase 3 (05_ficha_proyecto.py).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2 min. Una pregunta concreta, una persona que decide y una cifra. Evita "analizar los datos": di qué decisión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2 min. Mínimo 2 tablas o fuentes. Di el formato, cuántas filas y un problema de calidad real que encontraron (nulos, duplicados, valores raros).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2 min. Un diagrama simple, no un manual. Entrada → proceso → salida, con la herramienta de cada paso y dónde queda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3 min. Es lo que más pesa. Ensayen: terminal abierta, entorno activado, datos en su lugar. Tengan un plan B (captura o video) si falla la red. Muestren la entrada, el comando y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· 2 min. Dos o tres hallazgos, cada uno con una tabla o gráfico claro y una frase: "qué vemos y qué significa". Menos es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· 1 min. Una checklist rápida: muestra lo que SÍ hicieron. Si algo no está, no lo marquen.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· 1,5 min. Conecten el resultado con una decisión y con tiempo o dinero. Cierren con qué mejorarían.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· 1 min. Honestidad: cómo usaron la IA, qué corrigieron y qué aprendieron. Si no usaron IA, dígalo y explíquenlo.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minutos de preguntas. Pueden preguntar a cualquiera de los dos por cualquier línea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274320"/>
            <a:ext cx="2331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329184"/>
            <a:ext cx="1967345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LÉEME PRIMERO · BORRA ESTA DIAPOSITIVA ANTES DE PRESENTAR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Template de la presentación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78992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1. 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Es solo de formato. </a:t>
            </a:r>
            <a:r>
              <a:rPr sz="1900" b="0" i="0">
                <a:solidFill>
                  <a:srgbClr val="DDDDDD"/>
                </a:solidFill>
                <a:latin typeface="Calibri"/>
              </a:rPr>
              <a:t>Cada slide dice qué debe ir y cuánto tiempo. Escribe tu contenido sobre los textos grises y borra la ayuda.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2. 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Son 9 slides + preguntas = 15 minutos. </a:t>
            </a:r>
            <a:r>
              <a:rPr sz="1900" b="0" i="0">
                <a:solidFill>
                  <a:srgbClr val="DDDDDD"/>
                </a:solidFill>
                <a:latin typeface="Calibri"/>
              </a:rPr>
              <a:t>Después vienen 5 minutos de preguntas. Presentan los dos integrantes.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3. 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Lo que más pesa es la demo. </a:t>
            </a:r>
            <a:r>
              <a:rPr sz="1900" b="0" i="0">
                <a:solidFill>
                  <a:srgbClr val="DDDDDD"/>
                </a:solidFill>
                <a:latin typeface="Calibri"/>
              </a:rPr>
              <a:t>Tu pipeline corriendo en vivo, con un solo comando (Funcionalidad: 35%).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4. 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Puede haber preguntas sobre cualquier línea de tu código. </a:t>
            </a:r>
            <a:r>
              <a:rPr sz="1900" b="0" i="0">
                <a:solidFill>
                  <a:srgbClr val="DDDDDD"/>
                </a:solidFill>
                <a:latin typeface="Calibri"/>
              </a:rPr>
              <a:t>Usa la IA como copiloto, pero debes poder explicar todo.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5.  </a:t>
            </a:r>
            <a:r>
              <a:rPr sz="1900" b="1" i="0">
                <a:solidFill>
                  <a:srgbClr val="FFFFFF"/>
                </a:solidFill>
                <a:latin typeface="Calibri"/>
              </a:rPr>
              <a:t>Mantén la marca: </a:t>
            </a:r>
            <a:r>
              <a:rPr sz="1900" b="0" i="0">
                <a:solidFill>
                  <a:srgbClr val="DDDDDD"/>
                </a:solidFill>
                <a:latin typeface="Calibri"/>
              </a:rPr>
              <a:t>Calibri, naranja #FF6B1A, mínimo 12 pt, un elemento visual por slide.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Rúbrica: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Funcionalidad 35% · Calidad del código 30% · Buenas prácticas 15% · Presentación y valor de negocio 20%. Aprobación: nota 4,0.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365760"/>
            <a:ext cx="292608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29768"/>
            <a:ext cx="2360815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57607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Título de tu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5760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6B1A"/>
                </a:solidFill>
                <a:latin typeface="Calibri"/>
              </a:rPr>
              <a:t>Tema elegido: [N · nombre del tema, de los 10 del curso]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760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BBBBB"/>
                </a:solidFill>
                <a:latin typeface="Calibri"/>
              </a:rPr>
              <a:t>Integrantes: [Nombre Apellido] · [Nombre Apellido]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BBBBB"/>
                </a:solidFill>
                <a:latin typeface="Calibri"/>
              </a:rPr>
              <a:t>DPL1046 · Programación en Python y Manipulación de Datos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BBBBB"/>
                </a:solidFill>
                <a:latin typeface="Calibri"/>
              </a:rPr>
              <a:t>PhD. Juan Manuel Rozas · [fecha]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743200"/>
            <a:ext cx="47548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Slide 1 de 9 · 0,5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291840"/>
            <a:ext cx="45720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Portada: título claro, el tema (1 de los 10) y los nombres de la pareja.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6702552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El problema de negocio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2 de 9  ·  2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Presentación y valor de negocio (20%)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«¿Qué cantidad de cada categoría conviene tener en bodega el próximo mes?»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Para: la persona de compras.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Importa porque: comprar de más inmoviliza dinero; de menos, se pierden ventas.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3: elegir el tema y completar tu ficha.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8: taller para afinar el problema.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731520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Pregunta de negocio: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[¿Qué quieres responder? Una sola pregunta, clara.]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¿Para quién?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[Quién tomaría la decisión: gerencia, compras, logística...]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¿Por qué importa?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[Una cifra o hecho que lo muestre.]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Tema elegido: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[N · nombre, de los 10 temas del curso.]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Los datos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3 de 9  ·  2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Funcionalidad del pipeline (35%)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Tablas: orders y order_items (CSV).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Tamaño: 99.441 órdenes; 112.650 ítems.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Calidad: 2.965 órdenes sin fecha de entrega.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3: lista, set y diccionario para ver qué hay.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4: formatos (CSV, Excel, JSON, Parquet) y API.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5: nulos y duplicados.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691640"/>
          <a:ext cx="7315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2926080"/>
              </a:tblGrid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Tabla o fuente</a:t>
                      </a:r>
                    </a:p>
                  </a:txBody>
                  <a:tcPr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>
                    <a:solidFill>
                      <a:srgbClr val="FF6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Calidad (nulos, duplicados...)</a:t>
                      </a:r>
                    </a:p>
                  </a:txBody>
                  <a:tcPr>
                    <a:solidFill>
                      <a:srgbClr val="FF6B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i="0">
                          <a:solidFill>
                            <a:srgbClr val="444444"/>
                          </a:solidFill>
                          <a:latin typeface="Calibri"/>
                        </a:rPr>
                        <a:t>[ejemplo]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0">
                          <a:solidFill>
                            <a:srgbClr val="444444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0">
                          <a:solidFill>
                            <a:srgbClr val="444444"/>
                          </a:solidFill>
                          <a:latin typeface="Calibri"/>
                        </a:rPr>
                        <a:t>99.441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0">
                          <a:solidFill>
                            <a:srgbClr val="444444"/>
                          </a:solidFill>
                          <a:latin typeface="Calibri"/>
                        </a:rPr>
                        <a:t>2.965 sin fecha de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[tu tabla 2]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[tu tabla 3, opcional]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[API u otra fuente]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i="1">
                          <a:solidFill>
                            <a:srgbClr val="999999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3E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4892040"/>
            <a:ext cx="73152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Mínimo 2 tablas o fuentes. </a:t>
            </a:r>
            <a:r>
              <a:rPr sz="1600" b="0" i="1">
                <a:solidFill>
                  <a:srgbClr val="999999"/>
                </a:solidFill>
                <a:latin typeface="Calibri"/>
              </a:rPr>
              <a:t>Agrega filas si usas más. Al menos un problema de calidad real, con su número.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Arquitectura del pipeline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4 de 9  ·  2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Calidad del código (30%)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Entrada: CSV de Olist + API del dólar.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Proceso: limpiar, unir, agrupar por semana.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Salida: tabla en SQLite y un reporte.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4: formatos de salida (Parquet) y API.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6: guardar en SQLite sin duplicar.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7: carpetas src/ y pipeline.py.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2240280" cy="2011680"/>
          </a:xfrm>
          <a:prstGeom prst="roundRect">
            <a:avLst>
              <a:gd name="adj" fmla="val 6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9456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19659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999999"/>
                </a:solidFill>
                <a:latin typeface="Calibri"/>
              </a:rPr>
              <a:t>[de dónde vienen los datos]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34640" y="2880360"/>
            <a:ext cx="301752" cy="365760"/>
          </a:xfrm>
          <a:prstGeom prst="rightArrow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2103120"/>
            <a:ext cx="2240280" cy="2011680"/>
          </a:xfrm>
          <a:prstGeom prst="roundRect">
            <a:avLst>
              <a:gd name="adj" fmla="val 6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19456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PROCESO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697480"/>
            <a:ext cx="19659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999999"/>
                </a:solidFill>
                <a:latin typeface="Calibri"/>
              </a:rPr>
              <a:t>[qué hace tu código: limpiar, unir, agrupar...]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40680" y="2880360"/>
            <a:ext cx="301752" cy="365760"/>
          </a:xfrm>
          <a:prstGeom prst="rightArrow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720" y="2103120"/>
            <a:ext cx="2240280" cy="2011680"/>
          </a:xfrm>
          <a:prstGeom prst="roundRect">
            <a:avLst>
              <a:gd name="adj" fmla="val 6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219456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SALIDA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697480"/>
            <a:ext cx="19659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999999"/>
                </a:solidFill>
                <a:latin typeface="Calibri"/>
              </a:rPr>
              <a:t>[dónde queda: SQLite, Parquet, reporte]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73152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Herramientas por paso: </a:t>
            </a:r>
            <a:r>
              <a:rPr sz="1700" b="0" i="1">
                <a:solidFill>
                  <a:srgbClr val="999999"/>
                </a:solidFill>
                <a:latin typeface="Calibri"/>
              </a:rPr>
              <a:t>[pandas, requests, sqlite3, yaml...]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Estructura de carpetas: </a:t>
            </a:r>
            <a:r>
              <a:rPr sz="1700" b="0" i="1">
                <a:solidFill>
                  <a:srgbClr val="999999"/>
                </a:solidFill>
                <a:latin typeface="Calibri"/>
              </a:rPr>
              <a:t>[pipeline.py, src/, tests/, config.yaml]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Demo en vivo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5 de 9  ·  3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Funcionalidad del pipeline (35%)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Un comando: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python pipeline.py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Se ve: «89 semanas · al día (0 nuevas)».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3: ejecutar scripts y leer errores.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7: un solo comando y pipeline repetible.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37360"/>
            <a:ext cx="731520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68580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6B1A"/>
                </a:solidFill>
                <a:latin typeface="Consolas"/>
              </a:rPr>
              <a:t>$ </a:t>
            </a:r>
            <a:r>
              <a:rPr sz="2000" b="0" i="0">
                <a:solidFill>
                  <a:srgbClr val="FFFFFF"/>
                </a:solidFill>
                <a:latin typeface="Consolas"/>
              </a:rPr>
              <a:t>python pipeline.py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999999"/>
                </a:solidFill>
                <a:latin typeface="Consolas"/>
              </a:rPr>
              <a:t>[pega aquí lo que muestra tu terminal]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73152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Un solo comando </a:t>
            </a:r>
            <a:r>
              <a:rPr sz="1800" b="0" i="0">
                <a:solidFill>
                  <a:srgbClr val="444444"/>
                </a:solidFill>
                <a:latin typeface="Calibri"/>
              </a:rPr>
              <a:t>de principio a fin.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Muestra la entrada </a:t>
            </a:r>
            <a:r>
              <a:rPr sz="1800" b="0" i="0">
                <a:solidFill>
                  <a:srgbClr val="444444"/>
                </a:solidFill>
                <a:latin typeface="Calibri"/>
              </a:rPr>
              <a:t>y el resultado que aparece.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Plan B: </a:t>
            </a:r>
            <a:r>
              <a:rPr sz="1800" b="0" i="0">
                <a:solidFill>
                  <a:srgbClr val="444444"/>
                </a:solidFill>
                <a:latin typeface="Calibri"/>
              </a:rPr>
              <a:t>una captura o video corto, por si falla la red.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Ensayen </a:t>
            </a:r>
            <a:r>
              <a:rPr sz="1800" b="0" i="0">
                <a:solidFill>
                  <a:srgbClr val="444444"/>
                </a:solidFill>
                <a:latin typeface="Calibri"/>
              </a:rPr>
              <a:t>el día antes, con el computador cargado.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Resultados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6 de 9  ·  2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Presentación y valor de negocio (20%)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Hallazgo: un mes concentra más ventas que el resto.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Tabla: ventas por mes (top 5).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Qué significa: preparar stock antes de ese 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5: filtrar y columnas nuevas.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6: groupby y merge.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3736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8288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Hallazgo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86000"/>
            <a:ext cx="2057400" cy="2103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[tabla o gráfico]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73736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18288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Hallazgo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286000"/>
            <a:ext cx="2057400" cy="2103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[tabla o gráfico]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737360"/>
            <a:ext cx="2286000" cy="2743200"/>
          </a:xfrm>
          <a:prstGeom prst="roundRect">
            <a:avLst>
              <a:gd name="adj" fmla="val 5000"/>
            </a:avLst>
          </a:prstGeom>
          <a:solidFill>
            <a:srgbClr val="FFF3ED"/>
          </a:solidFill>
          <a:ln w="15875">
            <a:solidFill>
              <a:srgbClr val="FF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18288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6B1A"/>
                </a:solidFill>
                <a:latin typeface="Calibri"/>
              </a:rPr>
              <a:t>Hallazgo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2286000"/>
            <a:ext cx="2057400" cy="2103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[tabla o gráfico]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7315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Una frase por hallazgo: </a:t>
            </a:r>
            <a:r>
              <a:rPr sz="1700" b="0" i="1">
                <a:solidFill>
                  <a:srgbClr val="999999"/>
                </a:solidFill>
                <a:latin typeface="Calibri"/>
              </a:rPr>
              <a:t>«Vemos [dato]. Significa [decisión].»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Con 2 hallazgos buenos basta. </a:t>
            </a:r>
            <a:r>
              <a:rPr sz="1700" b="0" i="1">
                <a:solidFill>
                  <a:srgbClr val="999999"/>
                </a:solidFill>
                <a:latin typeface="Calibri"/>
              </a:rPr>
              <a:t>Un gráfico claro vale más que cinco confusos.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Calidad y buenas prácticas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7 de 9  ·  1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Calidad del código (30%) y Buenas prácticas (15%)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pytest: «4 passed».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Registro de lo que hizo: pipeline.log.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Claves en .env, que no sube a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Clases 1–2: entorno y Git.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4: .env y datos personales.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7: errores, logging, tests, config.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731520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Validación de datos y manejo de errores (try/except)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Logging: el pipeline deja registro de lo que hizo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Tests con pytest (muestra «passed»)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requirements.txt y README con cómo ejecutarlo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Sin claves en el código: .env fuera de Git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6B1A"/>
                </a:solidFill>
                <a:latin typeface="Calibri"/>
              </a:rPr>
              <a:t>☐  </a:t>
            </a:r>
            <a:r>
              <a:rPr sz="1900" b="0" i="0">
                <a:solidFill>
                  <a:srgbClr val="444444"/>
                </a:solidFill>
                <a:latin typeface="Calibri"/>
              </a:rPr>
              <a:t>Datos personales protegidos (hashing o masking), si aplica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Valor de negocio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8 de 9  ·  1,5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Presentación y valor de negocio (20%)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Decisión: cuánto stock pedir por categoría.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Ahorro: el reporte sale en segundos, no en horas.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Próximo paso: sumar promociones.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7: ejemplo de proyecto.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8: taller de proyecto.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731520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Decisión que permite: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[¿Qué cambia gracias a tu pipeline?]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Tiempo o esfuerzo que ahorra: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[De cuánto a cuánto, aunque sea aproximado.]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Próximos pasos: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[Qué mejorarían con más tiempo.]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778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6B1A"/>
                </a:solidFill>
                <a:latin typeface="Calibri"/>
              </a:rPr>
              <a:t>Aprendizajes e IA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32924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961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"/>
              </a:rPr>
              <a:t>Slide 9 de 9  ·  1 min  ·  </a:t>
            </a:r>
            <a:r>
              <a:rPr sz="1300" b="1" i="0">
                <a:solidFill>
                  <a:srgbClr val="FF6B1A"/>
                </a:solidFill>
                <a:latin typeface="Calibri"/>
              </a:rPr>
              <a:t>Pesa en la rúbrica: Presentación y valor de negocio (20%)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600200"/>
            <a:ext cx="3474720" cy="21488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709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Ejemplo ilustrativo (Tema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1031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Le pedimos a la IA: «escribe la función de limpieza».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Corregimos: las fechas venían como texto.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Aprendimos: leer los errores antes de pegar el código.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 w="15875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399592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6B1A"/>
                </a:solidFill>
                <a:latin typeface="Calibri"/>
              </a:rPr>
              <a:t>De dónde sale 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4389120"/>
            <a:ext cx="310896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Clase 8: IA local (Ollama), opcional.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Todas las clases.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Diplomado en Ingeniería de Datos con Python · Proyecto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82512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99999"/>
                </a:solidFill>
                <a:latin typeface="Calibri Light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731520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Cómo usamos la IA: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[Qué le pedimos y para qué.]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Qué corregimos: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[Algo que la IA hizo mal y ustedes arreglaron.]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Qué aprendimos: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[Lo más importante del curso para ustedes.]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FF6B1A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Qué haríamos distinto: </a:t>
            </a:r>
            <a:r>
              <a:rPr sz="1900" b="0" i="1">
                <a:solidFill>
                  <a:srgbClr val="999999"/>
                </a:solidFill>
                <a:latin typeface="Calibri"/>
              </a:rPr>
              <a:t>[Una cosa.]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274320"/>
            <a:ext cx="2331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329184"/>
            <a:ext cx="1967345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FF6B1A"/>
                </a:solidFill>
                <a:latin typeface="Calibri"/>
              </a:rPr>
              <a:t>5 minutos · pueden preguntar por cualquier parte del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999999"/>
                </a:solidFill>
                <a:latin typeface="Calibri Light"/>
              </a:rPr>
              <a:t>DPL1046 · Programación en Python y Manipulación de Datos · PhD. Juan Manuel Rozas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